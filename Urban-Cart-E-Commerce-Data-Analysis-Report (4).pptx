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Inter Bold" panose="020B0604020202020204" charset="0"/>
      <p:bold r:id="rId19"/>
    </p:embeddedFont>
    <p:embeddedFont>
      <p:font typeface="Inter Light" panose="020B0604020202020204" charset="0"/>
      <p:regular r:id="rId20"/>
    </p:embeddedFont>
    <p:embeddedFont>
      <p:font typeface="Montserrat Light" panose="00000400000000000000" pitchFamily="2" charset="0"/>
      <p:regular r:id="rId21"/>
    </p:embeddedFont>
    <p:embeddedFont>
      <p:font typeface="Montserrat Medium" panose="00000600000000000000" pitchFamily="2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61790" y="1299630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Urban Cart E-Commerce Data Analysis Report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210618" y="2748730"/>
            <a:ext cx="4722763" cy="8399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SQL • Pandas • NumPy • Business Insights</a:t>
            </a:r>
            <a:endParaRPr lang="en-US" sz="14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Lecturer:</a:t>
            </a:r>
            <a:r>
              <a:rPr lang="en-US" sz="14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Min Sothearith  |  </a:t>
            </a:r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Group: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</a:t>
            </a:r>
          </a:p>
          <a:p>
            <a:pPr marL="228600" indent="-228600" algn="l">
              <a:lnSpc>
                <a:spcPct val="133000"/>
              </a:lnSpc>
              <a:buAutoNum type="arabicPeriod"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Nak July</a:t>
            </a:r>
          </a:p>
          <a:p>
            <a:pPr marL="228600" indent="-228600" algn="l">
              <a:lnSpc>
                <a:spcPct val="133000"/>
              </a:lnSpc>
              <a:buAutoNum type="arabicPeriod"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Dim </a:t>
            </a:r>
            <a:r>
              <a:rPr lang="en-US" sz="1100" dirty="0" err="1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Mengleang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</a:t>
            </a:r>
          </a:p>
          <a:p>
            <a:pPr marL="228600" indent="-228600" algn="l">
              <a:lnSpc>
                <a:spcPct val="133000"/>
              </a:lnSpc>
              <a:buAutoNum type="arabicPeriod"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Srin </a:t>
            </a:r>
            <a:r>
              <a:rPr lang="en-US" sz="1100" dirty="0" err="1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Chhayanuth</a:t>
            </a:r>
            <a:endParaRPr lang="en-US" sz="1100" dirty="0">
              <a:solidFill>
                <a:srgbClr val="3D3E44"/>
              </a:solidFill>
              <a:latin typeface="Inter Light" panose="02000503000000020004" pitchFamily="34" charset="0"/>
              <a:ea typeface="Inter Light" panose="02000503000000020004" pitchFamily="34" charset="-122"/>
              <a:cs typeface="Inter Light" panose="02000503000000020004" pitchFamily="34" charset="-120"/>
            </a:endParaRPr>
          </a:p>
          <a:p>
            <a:pPr marL="228600" indent="-228600" algn="l">
              <a:lnSpc>
                <a:spcPct val="133000"/>
              </a:lnSpc>
              <a:buAutoNum type="arabicPeriod"/>
            </a:pPr>
            <a:r>
              <a:rPr lang="en-US" sz="1100" dirty="0" err="1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Tha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Rotanak</a:t>
            </a:r>
            <a:endParaRPr lang="en-US" sz="1100" dirty="0"/>
          </a:p>
        </p:txBody>
      </p:sp>
      <p:pic>
        <p:nvPicPr>
          <p:cNvPr id="5" name="Picture 4" descr="Phnom Penh International University | Linked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27" y="288758"/>
            <a:ext cx="4200525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DDFF3F6-FFF4-308A-8CD9-F78E5C295444}"/>
              </a:ext>
            </a:extLst>
          </p:cNvPr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96119" y="82964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Presentation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6147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anose="00000400000000000000" pitchFamily="34" charset="0"/>
                <a:ea typeface="Montserrat Light" panose="00000400000000000000" pitchFamily="34" charset="-122"/>
                <a:cs typeface="Montserrat Light" panose="00000400000000000000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78050"/>
            <a:ext cx="2622724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5" name="Text 3"/>
          <p:cNvSpPr/>
          <p:nvPr/>
        </p:nvSpPr>
        <p:spPr>
          <a:xfrm>
            <a:off x="496119" y="1886992"/>
            <a:ext cx="262272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Business Context &amp; Strategic Questions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14960"/>
            <a:ext cx="262272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Who is Urban Cart and what decisions does the data need to support?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556147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anose="00000400000000000000" pitchFamily="34" charset="0"/>
                <a:ea typeface="Montserrat Light" panose="00000400000000000000" pitchFamily="34" charset="-122"/>
                <a:cs typeface="Montserrat Light" panose="00000400000000000000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778050"/>
            <a:ext cx="2622724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9" name="Text 7"/>
          <p:cNvSpPr/>
          <p:nvPr/>
        </p:nvSpPr>
        <p:spPr>
          <a:xfrm>
            <a:off x="3260601" y="1886992"/>
            <a:ext cx="262272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Data Sources &amp; Quality Challenges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414960"/>
            <a:ext cx="262272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Where data comes from and what imperfections needed to be addressed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556147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anose="00000400000000000000" pitchFamily="34" charset="0"/>
                <a:ea typeface="Montserrat Light" panose="00000400000000000000" pitchFamily="34" charset="-122"/>
                <a:cs typeface="Montserrat Light" panose="00000400000000000000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792188"/>
            <a:ext cx="2622724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13" name="Text 11"/>
          <p:cNvSpPr/>
          <p:nvPr/>
        </p:nvSpPr>
        <p:spPr>
          <a:xfrm>
            <a:off x="6025083" y="1886992"/>
            <a:ext cx="262272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Methodology &amp; Cleaning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193503"/>
            <a:ext cx="262272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SQL extraction, Pandas integration, and systematic data cleaning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3116610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anose="00000400000000000000" pitchFamily="34" charset="0"/>
                <a:ea typeface="Montserrat Light" panose="00000400000000000000" pitchFamily="34" charset="-122"/>
                <a:cs typeface="Montserrat Light" panose="00000400000000000000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324299"/>
            <a:ext cx="4004965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17" name="Text 15"/>
          <p:cNvSpPr/>
          <p:nvPr/>
        </p:nvSpPr>
        <p:spPr>
          <a:xfrm>
            <a:off x="496119" y="3447455"/>
            <a:ext cx="40049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NumPy Analytics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753966"/>
            <a:ext cx="4004965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RFM segmentation, recommendations, regression, and simulation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2842" y="3116610"/>
            <a:ext cx="283518" cy="1771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Montserrat Light" panose="00000400000000000000" pitchFamily="34" charset="0"/>
                <a:ea typeface="Montserrat Light" panose="00000400000000000000" pitchFamily="34" charset="-122"/>
                <a:cs typeface="Montserrat Light" panose="00000400000000000000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2842" y="3338512"/>
            <a:ext cx="4004965" cy="19050"/>
          </a:xfrm>
          <a:prstGeom prst="rect">
            <a:avLst/>
          </a:prstGeom>
          <a:solidFill>
            <a:srgbClr val="888888"/>
          </a:solidFill>
        </p:spPr>
      </p:sp>
      <p:sp>
        <p:nvSpPr>
          <p:cNvPr id="21" name="Text 19"/>
          <p:cNvSpPr/>
          <p:nvPr/>
        </p:nvSpPr>
        <p:spPr>
          <a:xfrm>
            <a:off x="4642842" y="3447455"/>
            <a:ext cx="4004965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Findings &amp; Recommendations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642842" y="3753966"/>
            <a:ext cx="4004965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Key business insights and actionable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A18F3D-BC9E-DDE1-CF83-91835DC4C2EF}"/>
              </a:ext>
            </a:extLst>
          </p:cNvPr>
          <p:cNvSpPr/>
          <p:nvPr/>
        </p:nvSpPr>
        <p:spPr>
          <a:xfrm>
            <a:off x="0" y="-17479"/>
            <a:ext cx="9144000" cy="5143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496119" y="399901"/>
            <a:ext cx="4722763" cy="3945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1. Business Context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96119" y="963067"/>
            <a:ext cx="4722763" cy="908521"/>
          </a:xfrm>
          <a:prstGeom prst="roundRect">
            <a:avLst>
              <a:gd name="adj" fmla="val 125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7087" y="1094036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The Retailer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7087" y="1358726"/>
            <a:ext cx="4460825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Urban Cart is a fictional online retailer serving </a:t>
            </a:r>
            <a:r>
              <a:rPr lang="en-US" sz="95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15 cities</a:t>
            </a:r>
            <a:r>
              <a:rPr lang="en-US" sz="95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across six product categories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6119" y="1984028"/>
            <a:ext cx="4722763" cy="908521"/>
          </a:xfrm>
          <a:prstGeom prst="roundRect">
            <a:avLst>
              <a:gd name="adj" fmla="val 125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7087" y="2114996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Six Categories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7087" y="2379687"/>
            <a:ext cx="4460825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Electronics, Home &amp; Kitchen, Apparel, Sports &amp; Outdoors, Beauty &amp; Health, Books &amp; Media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96119" y="3004989"/>
            <a:ext cx="4722763" cy="717575"/>
          </a:xfrm>
          <a:prstGeom prst="roundRect">
            <a:avLst>
              <a:gd name="adj" fmla="val 15836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7087" y="3135957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7087" y="3400648"/>
            <a:ext cx="4460825" cy="1909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Customers, orders, products, reviews, and web sessions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6119" y="3835003"/>
            <a:ext cx="4722763" cy="908521"/>
          </a:xfrm>
          <a:prstGeom prst="roundRect">
            <a:avLst>
              <a:gd name="adj" fmla="val 125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7087" y="3965972"/>
            <a:ext cx="4460825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Strategic Goal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7087" y="4230663"/>
            <a:ext cx="4460825" cy="3818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Transform imperfect operational data into </a:t>
            </a:r>
            <a:r>
              <a:rPr lang="en-US" sz="95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evidence for management decisions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C68321-2C7C-C474-52FB-BE8A30951799}"/>
              </a:ext>
            </a:extLst>
          </p:cNvPr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1681739" y="359642"/>
            <a:ext cx="8151763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Strategic Questions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6508" y="882922"/>
            <a:ext cx="2680990" cy="9147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06441" y="977132"/>
            <a:ext cx="23782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Customer Value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2106441" y="1146647"/>
            <a:ext cx="23782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Who are the most valuable customers, and what patterns indicate loyalty or churn?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6508" y="1880741"/>
            <a:ext cx="2680990" cy="9580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06441" y="2003524"/>
            <a:ext cx="23782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Product Profitability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106441" y="2256086"/>
            <a:ext cx="2378273" cy="4598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Which products and categories remain economically attractive after costs, discounts, and returns?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6508" y="2921794"/>
            <a:ext cx="2680990" cy="8047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06441" y="3044577"/>
            <a:ext cx="23782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Demand Forecasting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106441" y="3297138"/>
            <a:ext cx="23782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Can near-term demand and stockout risk be estimated reliably?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26508" y="3809554"/>
            <a:ext cx="2680990" cy="8047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106441" y="3932337"/>
            <a:ext cx="2378273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Data Trustworthiness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2106441" y="4184898"/>
            <a:ext cx="2378273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Is the marketing and signup data reliable enough for management decisions?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88B9199-5541-2274-CE9A-F78D2BB59EA7}"/>
              </a:ext>
            </a:extLst>
          </p:cNvPr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2. Data Sources &amp; Structure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95935" y="884555"/>
            <a:ext cx="1974215" cy="1744345"/>
          </a:xfrm>
          <a:prstGeom prst="roundRect">
            <a:avLst>
              <a:gd name="adj" fmla="val 13574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6830" y="1055399"/>
            <a:ext cx="1818829" cy="1142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ecommerce.db</a:t>
            </a:r>
          </a:p>
        </p:txBody>
      </p:sp>
      <p:sp>
        <p:nvSpPr>
          <p:cNvPr id="5" name="Text 3"/>
          <p:cNvSpPr/>
          <p:nvPr/>
        </p:nvSpPr>
        <p:spPr>
          <a:xfrm>
            <a:off x="636829" y="1335102"/>
            <a:ext cx="1818829" cy="177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Main transactional SQLite database — customers, products, orders, order_items, reviews, web_sessions</a:t>
            </a:r>
          </a:p>
        </p:txBody>
      </p:sp>
      <p:sp>
        <p:nvSpPr>
          <p:cNvPr id="6" name="Shape 4"/>
          <p:cNvSpPr/>
          <p:nvPr/>
        </p:nvSpPr>
        <p:spPr>
          <a:xfrm>
            <a:off x="2590992" y="884555"/>
            <a:ext cx="2548899" cy="1744345"/>
          </a:xfrm>
          <a:prstGeom prst="roundRect">
            <a:avLst>
              <a:gd name="adj" fmla="val 13574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63412" y="1041259"/>
            <a:ext cx="2183634" cy="441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legacy_customers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_export.csv</a:t>
            </a:r>
          </a:p>
        </p:txBody>
      </p:sp>
      <p:sp>
        <p:nvSpPr>
          <p:cNvPr id="8" name="Text 6"/>
          <p:cNvSpPr/>
          <p:nvPr/>
        </p:nvSpPr>
        <p:spPr>
          <a:xfrm>
            <a:off x="2719441" y="1579622"/>
            <a:ext cx="1818903" cy="177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Historical CRM / customer export for cross-referencing and reconciliation</a:t>
            </a:r>
          </a:p>
        </p:txBody>
      </p:sp>
      <p:sp>
        <p:nvSpPr>
          <p:cNvPr id="9" name="Shape 7"/>
          <p:cNvSpPr/>
          <p:nvPr/>
        </p:nvSpPr>
        <p:spPr>
          <a:xfrm>
            <a:off x="514985" y="3314065"/>
            <a:ext cx="4106492" cy="1358265"/>
          </a:xfrm>
          <a:prstGeom prst="roundRect">
            <a:avLst>
              <a:gd name="adj" fmla="val 16609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152" y="3476161"/>
            <a:ext cx="2994034" cy="2595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product_catalog_2024.csv</a:t>
            </a:r>
          </a:p>
        </p:txBody>
      </p:sp>
      <p:sp>
        <p:nvSpPr>
          <p:cNvPr id="11" name="Text 9"/>
          <p:cNvSpPr/>
          <p:nvPr/>
        </p:nvSpPr>
        <p:spPr>
          <a:xfrm>
            <a:off x="624152" y="3867515"/>
            <a:ext cx="3997325" cy="8566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External product catalog used to validate</a:t>
            </a:r>
          </a:p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and enrich internal product records</a:t>
            </a: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b="-1712"/>
          <a:stretch/>
        </p:blipFill>
        <p:spPr>
          <a:xfrm>
            <a:off x="5437133" y="766339"/>
            <a:ext cx="3543022" cy="3775955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8151763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Data Quality Challenges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30573"/>
            <a:ext cx="4003104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~3%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496119" y="1706017"/>
            <a:ext cx="4003104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Missing Customer Cities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96119" y="1976512"/>
            <a:ext cx="4003104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Geographic gaps requiring imputation or exclusion from location-based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4703" y="1130573"/>
            <a:ext cx="4003179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~6%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4644703" y="1706017"/>
            <a:ext cx="4003179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Missing Customer Ages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44703" y="1976512"/>
            <a:ext cx="4003179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Demographic gaps affecting segmentation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119" y="2665437"/>
            <a:ext cx="4003104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~20%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96119" y="3240881"/>
            <a:ext cx="4003104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Missing Review Text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6119" y="3511376"/>
            <a:ext cx="4003104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Substantial gap in qualitative sentiment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44703" y="2665437"/>
            <a:ext cx="4003179" cy="42393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~5%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4644703" y="3240881"/>
            <a:ext cx="4003179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Duplicate Customer Records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44703" y="3511376"/>
            <a:ext cx="4003179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Near-duplicate and exact-duplicate records requiring deduplication before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049F3F-F04E-E8B7-1235-EF9B540251E0}"/>
              </a:ext>
            </a:extLst>
          </p:cNvPr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503990" y="692274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Analytical Pipeline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990" y="1347862"/>
            <a:ext cx="4722763" cy="20365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783" y="2998217"/>
            <a:ext cx="1071435" cy="1339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Business Action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821783" y="2526786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NumPy Model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821783" y="2060116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Pandas Clean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21783" y="1588684"/>
            <a:ext cx="1071435" cy="1339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SQL Extract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503990" y="3543895"/>
            <a:ext cx="4722763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Each stage feeds the next — raw relational data is extracted via SQL, cleaned and integrated using Pandas, quantitatively modelled with NumPy, and finally translated into evidence-based management actions.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6136"/>
            <a:ext cx="8151763" cy="3391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3. Data Cleaning &amp; Integration</a:t>
            </a:r>
            <a:endParaRPr lang="en-US" sz="2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19" y="1230027"/>
            <a:ext cx="162744" cy="1627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2263" y="1226716"/>
            <a:ext cx="23283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Standardize Date Formats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72263" y="1479277"/>
            <a:ext cx="2328342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Normalize multiple date formats while preserving original raw values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19" y="1955341"/>
            <a:ext cx="162744" cy="162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2263" y="1952030"/>
            <a:ext cx="23283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Detect Duplicates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72263" y="2204591"/>
            <a:ext cx="2328342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Identify exact and near-duplicate customer records for deduplication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19" y="2680655"/>
            <a:ext cx="162744" cy="162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2263" y="2677344"/>
            <a:ext cx="23283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Handle Missing Values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2263" y="2929905"/>
            <a:ext cx="2328342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Treat gaps according to their business meaning — not a one-size-fits-all rule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19" y="3405969"/>
            <a:ext cx="162744" cy="162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72263" y="3402657"/>
            <a:ext cx="23283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Investigate Outliers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72263" y="3655219"/>
            <a:ext cx="2328342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Examine extreme prices and quantities before deciding to correct or exclude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319" y="4131283"/>
            <a:ext cx="162744" cy="162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72263" y="4127971"/>
            <a:ext cx="2328342" cy="1695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Catalog Reconciliation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72263" y="4380533"/>
            <a:ext cx="2328342" cy="30658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Align internal products with the external 2024 catalog and validate joins &amp; revenue totals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90D2968-D807-FAEE-030B-8A39F6320A89}"/>
              </a:ext>
            </a:extLst>
          </p:cNvPr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96119" y="43480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4. NumPy Analytical Methods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61306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92846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RFM Segmentation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99357"/>
            <a:ext cx="2599134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Score customers on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Recency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,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Frequency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, and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Monetary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value to identify high-value and at-risk segments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1161306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692846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Interaction Matrix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1999357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Build a customer-product interaction matrix to encode purchase behaviour at scale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1161306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692846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Cosine Similarity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1999357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Measure product similarity to generate data-driven purchase recommendations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90131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721671"/>
            <a:ext cx="2599134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Normal-Equation Regression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4249638"/>
            <a:ext cx="259913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Fit a regression model for a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two-month revenue planning baseline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2433" y="3190131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721671"/>
            <a:ext cx="259913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Monte Carlo Simulation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4028182"/>
            <a:ext cx="259913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Run ≥5,000 trials to estimate stockout probability under uncertain demand conditions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543"/>
            <a:ext cx="8151763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5. Key Findings</a:t>
            </a:r>
            <a:endParaRPr lang="en-US" sz="18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F07258-55D7-E745-94F0-8494724A124E}"/>
              </a:ext>
            </a:extLst>
          </p:cNvPr>
          <p:cNvSpPr/>
          <p:nvPr/>
        </p:nvSpPr>
        <p:spPr>
          <a:xfrm>
            <a:off x="1535347" y="917335"/>
            <a:ext cx="6073306" cy="408016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0864"/>
            <a:ext cx="8151763" cy="3253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Forecasting &amp; Inventory Risk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47F435-F34C-340D-B516-21ABF0DFE105}"/>
              </a:ext>
            </a:extLst>
          </p:cNvPr>
          <p:cNvSpPr/>
          <p:nvPr/>
        </p:nvSpPr>
        <p:spPr>
          <a:xfrm>
            <a:off x="1455420" y="1023068"/>
            <a:ext cx="6233160" cy="337566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Forecasting &amp; Inventory Risk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F3C2B4-6A03-302B-B1A2-7D9987E57FE4}"/>
              </a:ext>
            </a:extLst>
          </p:cNvPr>
          <p:cNvSpPr/>
          <p:nvPr/>
        </p:nvSpPr>
        <p:spPr>
          <a:xfrm>
            <a:off x="1843612" y="808382"/>
            <a:ext cx="5456775" cy="384909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994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30498"/>
            <a:ext cx="2622724" cy="1847031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2640" y="1277020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619" y="139392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2640" y="1844055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Customer Retention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50566"/>
            <a:ext cx="232968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Protect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Champions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and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Loyal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customers; launch targeted reactivation for At Risk segments.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130498"/>
            <a:ext cx="2622724" cy="1847031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07122" y="1277020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4101" y="139392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7122" y="1844055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Inventory Optimization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7122" y="2150566"/>
            <a:ext cx="232968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Prioritize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high-risk products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with strategic importance before scaling stock decisions.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130498"/>
            <a:ext cx="2622724" cy="1847031"/>
          </a:xfrm>
          <a:prstGeom prst="roundRect">
            <a:avLst>
              <a:gd name="adj" fmla="val 690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71605" y="1277020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8584" y="1393924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1605" y="1844055"/>
            <a:ext cx="2329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Margin Improvement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71605" y="2150566"/>
            <a:ext cx="2329681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Analyze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cost, discounting, and return behavior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together for a unified profitability view.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119289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2640" y="3265810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619" y="3382714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2640" y="3832845"/>
            <a:ext cx="3711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Data Governance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640" y="4139357"/>
            <a:ext cx="37119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Monitor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duplicates, missing values, and dates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; reconcile identifiers across all sources.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842" y="3119289"/>
            <a:ext cx="4004965" cy="1620217"/>
          </a:xfrm>
          <a:prstGeom prst="roundRect">
            <a:avLst>
              <a:gd name="adj" fmla="val 787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89363" y="3265810"/>
            <a:ext cx="425276" cy="425276"/>
          </a:xfrm>
          <a:prstGeom prst="ellipse">
            <a:avLst/>
          </a:prstGeom>
          <a:solidFill>
            <a:srgbClr val="888888"/>
          </a:solidFill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6342" y="3382714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9363" y="3832845"/>
            <a:ext cx="3711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Digital Conversion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89363" y="4139357"/>
            <a:ext cx="3711922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Test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device and country friction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rigorously before scaling any causal claims.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2878" y="482203"/>
            <a:ext cx="2677492" cy="3461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Limitations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26" y="1083672"/>
            <a:ext cx="166092" cy="1660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4870" y="1080249"/>
            <a:ext cx="2317626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Segmentation Gaps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904870" y="1339730"/>
            <a:ext cx="2317626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Missing demographic data may </a:t>
            </a:r>
            <a:r>
              <a:rPr lang="en-US" sz="10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limit customer segmentation accuracy</a:t>
            </a: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.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26" y="1831682"/>
            <a:ext cx="166092" cy="1660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4870" y="1828259"/>
            <a:ext cx="2317626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904870" y="2087741"/>
            <a:ext cx="2317626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Near-duplicate entries may require </a:t>
            </a:r>
            <a:r>
              <a:rPr lang="en-US" sz="10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manual review and deduplication</a:t>
            </a: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before analysis.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26" y="2579692"/>
            <a:ext cx="166092" cy="16609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4870" y="2576269"/>
            <a:ext cx="2317626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Returns Treatment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904870" y="2835751"/>
            <a:ext cx="2317626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Returns require </a:t>
            </a:r>
            <a:r>
              <a:rPr lang="en-US" sz="10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explicit handling</a:t>
            </a: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in all revenue and margin calculations.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26" y="3327702"/>
            <a:ext cx="166092" cy="16609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04870" y="3324279"/>
            <a:ext cx="2317626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Outlier Sensitivity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904870" y="3583761"/>
            <a:ext cx="2317626" cy="31551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Outliers can </a:t>
            </a:r>
            <a:r>
              <a:rPr lang="en-US" sz="10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disproportionately skew</a:t>
            </a: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results and downstream forecasts.</a:t>
            </a:r>
            <a:endParaRPr lang="en-US" sz="10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526" y="4075712"/>
            <a:ext cx="166092" cy="1660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04870" y="4072289"/>
            <a:ext cx="2317626" cy="1730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Modeling Assumptions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904870" y="4331771"/>
            <a:ext cx="2317626" cy="4732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Forecast and Monte Carlo results depend heavily on </a:t>
            </a:r>
            <a:r>
              <a:rPr lang="en-US" sz="10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underlying modeling assumptions</a:t>
            </a:r>
            <a:r>
              <a:rPr lang="en-US" sz="10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439415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095003"/>
            <a:ext cx="2290465" cy="2187253"/>
          </a:xfrm>
          <a:prstGeom prst="roundRect">
            <a:avLst>
              <a:gd name="adj" fmla="val 583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1241524"/>
            <a:ext cx="1997422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Methods &amp; Data Quality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1769492"/>
            <a:ext cx="1997422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Reliable analytics requires both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strong methods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and disciplined data preparation working in concert.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095003"/>
            <a:ext cx="2290539" cy="2187253"/>
          </a:xfrm>
          <a:prstGeom prst="roundRect">
            <a:avLst>
              <a:gd name="adj" fmla="val 5833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1241524"/>
            <a:ext cx="199749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Connected Workflow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1548036"/>
            <a:ext cx="1997497" cy="1587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Urban Cart's analytical framework connects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customer value, profitability, forecasting, inventory, digital conversion, and governance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into a single coherent system.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24014"/>
            <a:ext cx="4722763" cy="1279996"/>
          </a:xfrm>
          <a:prstGeom prst="roundRect">
            <a:avLst>
              <a:gd name="adj" fmla="val 9968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570536"/>
            <a:ext cx="4429720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D3E44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Defensible Decisions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877047"/>
            <a:ext cx="4429720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The strongest management value comes from turning </a:t>
            </a:r>
            <a:r>
              <a:rPr lang="en-US" sz="1100" b="1" dirty="0">
                <a:solidFill>
                  <a:srgbClr val="3D3E44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imperfect records into defensible decisions</a:t>
            </a:r>
            <a:r>
              <a:rPr lang="en-US" sz="11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 that drive measurable outcomes.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088946" y="1252904"/>
            <a:ext cx="4722763" cy="536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088946" y="1826615"/>
            <a:ext cx="4722763" cy="14795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dirty="0">
                <a:solidFill>
                  <a:srgbClr val="74767D"/>
                </a:solidFill>
                <a:latin typeface="Montserrat Medium" panose="00000600000000000000" pitchFamily="34" charset="0"/>
                <a:ea typeface="Montserrat Medium" panose="00000600000000000000" pitchFamily="34" charset="-122"/>
                <a:cs typeface="Montserrat Medium" panose="00000600000000000000" pitchFamily="34" charset="-120"/>
              </a:rPr>
              <a:t>Questions &amp; Discussion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2088946" y="3342748"/>
            <a:ext cx="4722763" cy="5488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D3E44"/>
                </a:solidFill>
                <a:latin typeface="Inter Light" panose="02000503000000020004" pitchFamily="34" charset="0"/>
                <a:ea typeface="Inter Light" panose="02000503000000020004" pitchFamily="34" charset="-122"/>
                <a:cs typeface="Inter Light" panose="02000503000000020004" pitchFamily="34" charset="-120"/>
              </a:rPr>
              <a:t>We welcome your questions, feedback, and continued collaboration on Urban Cart's commerce analytics journey.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795</Words>
  <Application>Microsoft Office PowerPoint</Application>
  <PresentationFormat>On-screen Show (16:9)</PresentationFormat>
  <Paragraphs>143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Inter Light</vt:lpstr>
      <vt:lpstr>Inter Bold</vt:lpstr>
      <vt:lpstr>Montserrat Medium</vt:lpstr>
      <vt:lpstr>Arial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leang dim</cp:lastModifiedBy>
  <cp:revision>11</cp:revision>
  <dcterms:created xsi:type="dcterms:W3CDTF">2026-08-13T02:30:00Z</dcterms:created>
  <dcterms:modified xsi:type="dcterms:W3CDTF">2026-08-13T12:16:31Z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DBD6349EC4F84B5D8B00102C9AE31A25_13</vt:lpwstr>
  </property>
</Properties>
</file>